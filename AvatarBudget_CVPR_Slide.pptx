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d903f8750b401b" /><Relationship Type="http://schemas.openxmlformats.org/officeDocument/2006/relationships/extended-properties" Target="/docProps/app.xml" Id="Ra1f810475e794dd1" /><Relationship Type="http://schemas.openxmlformats.org/officeDocument/2006/relationships/officeDocument" Target="/ppt/presentation.xml" Id="R2803c31987df45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8e87bd19e545a2"/>
  </p:sldMasterIdLst>
  <p:notesMasterIdLst>
    <p:notesMasterId xmlns:r="http://schemas.openxmlformats.org/officeDocument/2006/relationships" r:id="R23ac38916dff4938"/>
  </p:notesMasterIdLst>
  <p:sldIdLst>
    <p:sldId xmlns:r="http://schemas.openxmlformats.org/officeDocument/2006/relationships" id="256" r:id="R810af4c0000540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b368f33cbb4a89" /><Relationship Type="http://schemas.openxmlformats.org/officeDocument/2006/relationships/slideMaster" Target="/ppt/slideMasters/slideMaster1.xml" Id="Rc88e87bd19e545a2" /><Relationship Type="http://schemas.openxmlformats.org/officeDocument/2006/relationships/notesMaster" Target="/ppt/notesMasters/notesMaster1.xml" Id="R23ac38916dff4938" /><Relationship Type="http://schemas.openxmlformats.org/officeDocument/2006/relationships/presProps" Target="/ppt/presProps.xml" Id="R5e704af650724fc5" /><Relationship Type="http://schemas.openxmlformats.org/officeDocument/2006/relationships/tableStyles" Target="/ppt/tableStyles.xml" Id="R68c61935e4a94898" /><Relationship Type="http://schemas.openxmlformats.org/officeDocument/2006/relationships/slide" Target="/ppt/slides/slide1.xml" Id="R810af4c0000540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5997b83d8d41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237f2ab33b4004" /><Relationship Type="http://schemas.openxmlformats.org/officeDocument/2006/relationships/notesMaster" Target="/ppt/notesMasters/notesMaster1.xml" Id="Re34bbeeba50c4f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RESEARCH_POSITIONING.md, especially sections on PEAR/GUAVA coupling, existing student distillation, measured pipeline FPS, and proposed render-aware distillation.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This slide positions the work as an end-to-end compute allocation problem. The student architecture is useful, but the stronger novelty is the render-aware scheduler and distillation objective under a hard frame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4934cba4440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95b5093e88494a" /><Relationship Type="http://schemas.openxmlformats.org/officeDocument/2006/relationships/slideLayout" Target="/ppt/slideLayouts/slideLayout1.xml" Id="R48dec3a5f96142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dec3a5f96142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a59803c274fd4" /><Relationship Type="http://schemas.openxmlformats.org/officeDocument/2006/relationships/notesSlide" Target="/ppt/notesSlides/notesSlide1.xml" Id="R02dd497a57a24a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C159B48F-5B91-4427-B327-84CD4EB1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CVPR POSITIONING | REAL-TIME MONOCULAR GAUSSIAN AVATARS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144D7B-8F22-4484-979F-39BDE782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AvatarBudget: fixed-FPS Gaussian avatars</a:t>
            </a:r>
          </a:p>
        </p:txBody>
      </p:sp>
      <p:sp>
        <p:nvSpPr>
          <p:cNvPr id="3" name="fps-lock">
            <a:extLst xmlns:a="http://schemas.openxmlformats.org/drawingml/2006/main">
              <a:ext uri="{FF2B5EF4-FFF2-40B4-BE49-F238E27FC236}">
                <a16:creationId xmlns:a16="http://schemas.microsoft.com/office/drawing/2014/main" id="{F79F20C0-0B1C-40FF-A080-0D08AF7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FPS is fixed; quality and refresh rates adapt.</a:t>
            </a:r>
          </a:p>
        </p:txBody>
      </p:sp>
      <p:sp>
        <p:nvSpPr>
          <p:cNvPr id="4" name="story_prior">
            <a:extLst xmlns:a="http://schemas.openxmlformats.org/drawingml/2006/main">
              <a:ext uri="{FF2B5EF4-FFF2-40B4-BE49-F238E27FC236}">
                <a16:creationId xmlns:a16="http://schemas.microsoft.com/office/drawing/2014/main" id="{C384DABB-CB8A-441C-B823-0426BA79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952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Prior work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fast parts alone</a:t>
            </a:r>
          </a:p>
        </p:txBody>
      </p:sp>
      <p:sp>
        <p:nvSpPr>
          <p:cNvPr id="5" name="story_gap">
            <a:extLst xmlns:a="http://schemas.openxmlformats.org/drawingml/2006/main">
              <a:ext uri="{FF2B5EF4-FFF2-40B4-BE49-F238E27FC236}">
                <a16:creationId xmlns:a16="http://schemas.microsoft.com/office/drawing/2014/main" id="{DD8E76EA-1CEC-4921-81C1-4B2F65AF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04950"/>
            <a:ext cx="1952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DBA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Research gap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shared GPU budget</a:t>
            </a:r>
          </a:p>
        </p:txBody>
      </p:sp>
      <p:sp>
        <p:nvSpPr>
          <p:cNvPr id="6" name="story_ours">
            <a:extLst xmlns:a="http://schemas.openxmlformats.org/drawingml/2006/main">
              <a:ext uri="{FF2B5EF4-FFF2-40B4-BE49-F238E27FC236}">
                <a16:creationId xmlns:a16="http://schemas.microsoft.com/office/drawing/2014/main" id="{C2677755-46CD-4FD8-99E7-6B3F2B65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67E8F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Our idea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render-impact routing</a:t>
            </a:r>
          </a:p>
        </p:txBody>
      </p:sp>
      <p:sp>
        <p:nvSpPr>
          <p:cNvPr id="7" name="story_result">
            <a:extLst xmlns:a="http://schemas.openxmlformats.org/drawingml/2006/main">
              <a:ext uri="{FF2B5EF4-FFF2-40B4-BE49-F238E27FC236}">
                <a16:creationId xmlns:a16="http://schemas.microsoft.com/office/drawing/2014/main" id="{A8D87D14-24A9-4044-B7F5-C2C542C3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04950"/>
            <a:ext cx="1952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86EF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Target result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real-time avatar</a:t>
            </a:r>
          </a:p>
        </p:txBody>
      </p:sp>
      <p:cxnSp>
        <p:nvCxnSpPr>
          <p:cNvPr id="41" name="story_arrow_1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38425" y="18383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4748B"/>
            </a:solidFill>
            <a:prstDash val="solid"/>
          </a:ln>
        </p:spPr>
      </p:cxnSp>
      <p:cxnSp>
        <p:nvCxnSpPr>
          <p:cNvPr id="42" name="story_arrow_2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62525" y="18383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4748B"/>
            </a:solidFill>
            <a:prstDash val="solid"/>
          </a:ln>
        </p:spPr>
      </p:cxnSp>
      <p:cxnSp>
        <p:nvCxnSpPr>
          <p:cNvPr id="43" name="story_arrow_3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29500" y="18383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4748B"/>
            </a:solidFill>
            <a:prstDash val="solid"/>
          </a:ln>
        </p:spPr>
      </p:cxnSp>
      <p:sp>
        <p:nvSpPr>
          <p:cNvPr id="11" name="architecture_label">
            <a:extLst xmlns:a="http://schemas.openxmlformats.org/drawingml/2006/main">
              <a:ext uri="{FF2B5EF4-FFF2-40B4-BE49-F238E27FC236}">
                <a16:creationId xmlns:a16="http://schemas.microsoft.com/office/drawing/2014/main" id="{51E1CF7A-BB57-473F-AF2B-8646E07C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Proposed end-to-end architecture</a:t>
            </a:r>
          </a:p>
        </p:txBody>
      </p:sp>
      <p:sp>
        <p:nvSpPr>
          <p:cNvPr id="12" name="arch_webcam">
            <a:extLst xmlns:a="http://schemas.openxmlformats.org/drawingml/2006/main">
              <a:ext uri="{FF2B5EF4-FFF2-40B4-BE49-F238E27FC236}">
                <a16:creationId xmlns:a16="http://schemas.microsoft.com/office/drawing/2014/main" id="{F54CA506-E955-4AE5-B860-EC28C96B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219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Webcam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frame</a:t>
            </a:r>
          </a:p>
        </p:txBody>
      </p:sp>
      <p:sp>
        <p:nvSpPr>
          <p:cNvPr id="13" name="arch_scout">
            <a:extLst xmlns:a="http://schemas.openxmlformats.org/drawingml/2006/main">
              <a:ext uri="{FF2B5EF4-FFF2-40B4-BE49-F238E27FC236}">
                <a16:creationId xmlns:a16="http://schemas.microsoft.com/office/drawing/2014/main" id="{5BCA58BD-F836-4374-A6CB-5FD31A58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71800"/>
            <a:ext cx="152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1430">
            <a:solidFill>
              <a:srgbClr val="7DD3F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Cheap scout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low-res motion + uncertainty</a:t>
            </a:r>
          </a:p>
        </p:txBody>
      </p:sp>
      <p:sp>
        <p:nvSpPr>
          <p:cNvPr id="14" name="arch_router">
            <a:extLst xmlns:a="http://schemas.openxmlformats.org/drawingml/2006/main">
              <a:ext uri="{FF2B5EF4-FFF2-40B4-BE49-F238E27FC236}">
                <a16:creationId xmlns:a16="http://schemas.microsoft.com/office/drawing/2014/main" id="{74F95935-3CA6-40BC-B187-870B1671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71800"/>
            <a:ext cx="16573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1430">
            <a:solidFill>
              <a:srgbClr val="5EE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Budget router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skip cost = render damage</a:t>
            </a:r>
          </a:p>
        </p:txBody>
      </p:sp>
      <p:sp>
        <p:nvSpPr>
          <p:cNvPr id="15" name="arch_experts">
            <a:extLst xmlns:a="http://schemas.openxmlformats.org/drawingml/2006/main">
              <a:ext uri="{FF2B5EF4-FFF2-40B4-BE49-F238E27FC236}">
                <a16:creationId xmlns:a16="http://schemas.microsoft.com/office/drawing/2014/main" id="{962C40B3-95FF-457D-BEB4-13B6230D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71800"/>
            <a:ext cx="16954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FCD3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Conditional experts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face | hands | body</a:t>
            </a:r>
          </a:p>
        </p:txBody>
      </p:sp>
      <p:sp>
        <p:nvSpPr>
          <p:cNvPr id="16" name="arch_state">
            <a:extLst xmlns:a="http://schemas.openxmlformats.org/drawingml/2006/main">
              <a:ext uri="{FF2B5EF4-FFF2-40B4-BE49-F238E27FC236}">
                <a16:creationId xmlns:a16="http://schemas.microsoft.com/office/drawing/2014/main" id="{B744A84E-DDD9-4100-9176-C18727F5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1600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1430">
            <a:solidFill>
              <a:srgbClr val="C4B5F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EHM pose state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observed + predicted</a:t>
            </a:r>
          </a:p>
        </p:txBody>
      </p:sp>
      <p:sp>
        <p:nvSpPr>
          <p:cNvPr id="17" name="arch_render">
            <a:extLst xmlns:a="http://schemas.openxmlformats.org/drawingml/2006/main">
              <a:ext uri="{FF2B5EF4-FFF2-40B4-BE49-F238E27FC236}">
                <a16:creationId xmlns:a16="http://schemas.microsoft.com/office/drawing/2014/main" id="{51353C92-E037-430D-89E4-4FF39B4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71800"/>
            <a:ext cx="152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1430">
            <a:solidFill>
              <a:srgbClr val="F9A8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GUAVA render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progressive 3DGS detail</a:t>
            </a:r>
          </a:p>
        </p:txBody>
      </p:sp>
      <p:cxnSp>
        <p:nvCxnSpPr>
          <p:cNvPr id="51" name="arch_arrow_1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924050" y="3371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4748B"/>
            </a:solidFill>
            <a:prstDash val="solid"/>
          </a:ln>
        </p:spPr>
      </p:cxnSp>
      <p:cxnSp>
        <p:nvCxnSpPr>
          <p:cNvPr id="52" name="arch_arrow_2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790950" y="33718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4748B"/>
            </a:solidFill>
            <a:prstDash val="solid"/>
          </a:ln>
        </p:spPr>
      </p:cxnSp>
      <p:cxnSp>
        <p:nvCxnSpPr>
          <p:cNvPr id="53" name="arch_arrow_3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29300" y="33718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4748B"/>
            </a:solidFill>
            <a:prstDash val="solid"/>
          </a:ln>
        </p:spPr>
      </p:cxnSp>
      <p:cxnSp>
        <p:nvCxnSpPr>
          <p:cNvPr id="54" name="arch_arrow_4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905750" y="33718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4748B"/>
            </a:solidFill>
            <a:prstDash val="solid"/>
          </a:ln>
        </p:spPr>
      </p:cxnSp>
      <p:cxnSp>
        <p:nvCxnSpPr>
          <p:cNvPr id="55" name="arch_arrow_5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886950" y="3371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4748B"/>
            </a:solidFill>
            <a:prstDash val="solid"/>
          </a:ln>
        </p:spPr>
      </p:cxnSp>
      <p:sp>
        <p:nvSpPr>
          <p:cNvPr id="23" name="arch_predictor">
            <a:extLst xmlns:a="http://schemas.openxmlformats.org/drawingml/2006/main">
              <a:ext uri="{FF2B5EF4-FFF2-40B4-BE49-F238E27FC236}">
                <a16:creationId xmlns:a16="http://schemas.microsoft.com/office/drawing/2014/main" id="{799903DF-4586-4627-BF14-E8E5F50C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95750"/>
            <a:ext cx="3733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Temporal predictor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short gaps only; forced refresh</a:t>
            </a:r>
          </a:p>
        </p:txBody>
      </p:sp>
      <p:cxnSp>
        <p:nvCxnSpPr>
          <p:cNvPr id="57" name="arch_arrow_router_predictor"/>
          <p:cNvCxnSpPr>
            <a:stCxn xmlns:a="http://schemas.openxmlformats.org/drawingml/2006/main" id="14" idx="3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829300" y="3371850"/>
            <a:ext cx="228600" cy="72390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64748B"/>
            </a:solidFill>
            <a:prstDash val="solid"/>
          </a:ln>
        </p:spPr>
      </p:cxnSp>
      <p:cxnSp>
        <p:nvCxnSpPr>
          <p:cNvPr id="58" name="arch_arrow_predictor_state"/>
          <p:cNvCxnSpPr>
            <a:stCxn xmlns:a="http://schemas.openxmlformats.org/drawingml/2006/main" id="2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905750" y="3371850"/>
            <a:ext cx="381000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4748B"/>
            </a:solidFill>
            <a:prstDash val="solid"/>
          </a:ln>
        </p:spPr>
      </p:cxnSp>
      <p:sp>
        <p:nvSpPr>
          <p:cNvPr id="26" name="scout_truth">
            <a:extLst xmlns:a="http://schemas.openxmlformats.org/drawingml/2006/main">
              <a:ext uri="{FF2B5EF4-FFF2-40B4-BE49-F238E27FC236}">
                <a16:creationId xmlns:a16="http://schemas.microsoft.com/office/drawing/2014/main" id="{F33DF3C2-5FE2-43F5-A667-BB6ECF57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62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Movement detection is not free: a tiny scout runs every frame; expensive experts are conditional.</a:t>
            </a:r>
          </a:p>
        </p:txBody>
      </p:sp>
      <p:sp>
        <p:nvSpPr>
          <p:cNvPr id="27" name="contrib_label">
            <a:extLst xmlns:a="http://schemas.openxmlformats.org/drawingml/2006/main">
              <a:ext uri="{FF2B5EF4-FFF2-40B4-BE49-F238E27FC236}">
                <a16:creationId xmlns:a16="http://schemas.microsoft.com/office/drawing/2014/main" id="{E869FB4B-1514-4DC6-B72C-B2A15B97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Contribution list</a:t>
            </a:r>
          </a:p>
        </p:txBody>
      </p:sp>
      <p:sp>
        <p:nvSpPr>
          <p:cNvPr id="28" name="contribution_C1">
            <a:extLst xmlns:a="http://schemas.openxmlformats.org/drawingml/2006/main">
              <a:ext uri="{FF2B5EF4-FFF2-40B4-BE49-F238E27FC236}">
                <a16:creationId xmlns:a16="http://schemas.microsoft.com/office/drawing/2014/main" id="{7D38E395-0E55-4A42-81C8-47F6040D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952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C1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shared-GPU coupling benchmark</a:t>
            </a:r>
          </a:p>
        </p:txBody>
      </p:sp>
      <p:sp>
        <p:nvSpPr>
          <p:cNvPr id="29" name="contribution_C2">
            <a:extLst xmlns:a="http://schemas.openxmlformats.org/drawingml/2006/main">
              <a:ext uri="{FF2B5EF4-FFF2-40B4-BE49-F238E27FC236}">
                <a16:creationId xmlns:a16="http://schemas.microsoft.com/office/drawing/2014/main" id="{89C46783-FA18-4EF9-8CBB-1EF63D80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38800"/>
            <a:ext cx="1952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C2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render-impact student distillation</a:t>
            </a:r>
          </a:p>
        </p:txBody>
      </p:sp>
      <p:sp>
        <p:nvSpPr>
          <p:cNvPr id="30" name="contribution_C3">
            <a:extLst xmlns:a="http://schemas.openxmlformats.org/drawingml/2006/main">
              <a:ext uri="{FF2B5EF4-FFF2-40B4-BE49-F238E27FC236}">
                <a16:creationId xmlns:a16="http://schemas.microsoft.com/office/drawing/2014/main" id="{45F59D54-1B30-44B9-B542-D1BCCDE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38800"/>
            <a:ext cx="1952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C3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counterfactual budget router</a:t>
            </a:r>
          </a:p>
        </p:txBody>
      </p:sp>
      <p:sp>
        <p:nvSpPr>
          <p:cNvPr id="31" name="contribution_C4">
            <a:extLst xmlns:a="http://schemas.openxmlformats.org/drawingml/2006/main">
              <a:ext uri="{FF2B5EF4-FFF2-40B4-BE49-F238E27FC236}">
                <a16:creationId xmlns:a16="http://schemas.microsoft.com/office/drawing/2014/main" id="{D71A8234-4450-4A34-BBD0-8024F7F2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38800"/>
            <a:ext cx="1952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C4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part-conditional pose experts</a:t>
            </a:r>
          </a:p>
        </p:txBody>
      </p:sp>
      <p:sp>
        <p:nvSpPr>
          <p:cNvPr id="32" name="contribution_C5">
            <a:extLst xmlns:a="http://schemas.openxmlformats.org/drawingml/2006/main">
              <a:ext uri="{FF2B5EF4-FFF2-40B4-BE49-F238E27FC236}">
                <a16:creationId xmlns:a16="http://schemas.microsoft.com/office/drawing/2014/main" id="{952CA9AF-F8E4-451B-9119-1F283A16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38800"/>
            <a:ext cx="1952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C5</a:t>
            </a:r>
          </a:p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FPS-locked progressive rendering</a:t>
            </a:r>
          </a:p>
        </p:txBody>
      </p:sp>
      <p:sp>
        <p:nvSpPr>
          <p:cNvPr id="33" name="next_step">
            <a:extLst xmlns:a="http://schemas.openxmlformats.org/drawingml/2006/main">
              <a:ext uri="{FF2B5EF4-FFF2-40B4-BE49-F238E27FC236}">
                <a16:creationId xmlns:a16="http://schemas.microsoft.com/office/drawing/2014/main" id="{80558516-1440-4037-BB00-DADA53BB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1600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Next: A/B test the same student at identical FPS: parameter KD vs. render-impact KD.</a:t>
            </a:r>
          </a:p>
        </p:txBody>
      </p:sp>
    </p:spTree>
    <p:extLst>
      <p:ext uri="{BB962C8B-B14F-4D97-AF65-F5344CB8AC3E}">
        <p14:creationId xmlns:p14="http://schemas.microsoft.com/office/powerpoint/2010/main" val="1416959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2026-09-04T04:41:40.4980000Z</dcterms:created>
  <dcterms:modified xsi:type="dcterms:W3CDTF">2026-09-04T04:41:40.4980000Z</dcterms:modified>
</coreProperties>
</file>